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59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2" r:id="rId13"/>
    <p:sldId id="271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3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57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651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4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Lean Canvas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המצפן העסקי החי </a:t>
            </a:r>
            <a:r>
              <a:rPr lang="en-US" sz="2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בעידן</a:t>
            </a:r>
            <a:r>
              <a:rPr lang="en-US" sz="2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</a:t>
            </a:r>
            <a:r>
              <a:rPr lang="he-IL" sz="2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818120" y="4709160"/>
            <a:ext cx="384048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8293608" y="4709160"/>
            <a:ext cx="384048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769096" y="4709160"/>
            <a:ext cx="384048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7818120" y="5184648"/>
            <a:ext cx="384048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293608" y="5184648"/>
            <a:ext cx="384048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8769096" y="5184648"/>
            <a:ext cx="384048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 flipH="1">
            <a:off x="6720840" y="4873752"/>
            <a:ext cx="822960" cy="256032"/>
          </a:xfrm>
          <a:prstGeom prst="rightArrow">
            <a:avLst/>
          </a:prstGeom>
          <a:solidFill>
            <a:srgbClr val="AFC8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3383280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7E4F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3858768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A544">
              <a:alpha val="7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4334256" y="4709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B2A4A">
              <a:alpha val="7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3383280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AFC8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3858768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0A544">
              <a:alpha val="75000"/>
            </a:srgbClr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4334256" y="5184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7E4F2">
              <a:alpha val="75000"/>
            </a:srgbClr>
          </a:solidFill>
          <a:ln/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he-IL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השינוי התפיסתי </a:t>
            </a:r>
            <a:b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לא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מחליפים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את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המתודה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.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משנים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את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הדרך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שבה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עובדים</a:t>
            </a:r>
            <a:r>
              <a:rPr lang="en-US" sz="16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איתה</a:t>
            </a:r>
            <a:endParaRPr lang="he-IL" sz="1600" b="1" dirty="0">
              <a:solidFill>
                <a:srgbClr val="1B2A4A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r" rtl="1">
              <a:buNone/>
            </a:pPr>
            <a:endParaRPr lang="he-IL" sz="1600" b="1" dirty="0">
              <a:solidFill>
                <a:srgbClr val="1B2A4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0" y="2971800"/>
            <a:ext cx="5212080" cy="2743199"/>
          </a:xfrm>
          <a:prstGeom prst="roundRect">
            <a:avLst>
              <a:gd name="adj" fmla="val 1702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10858500" y="312071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0858500" y="3120716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97980" y="31024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נשאר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3132912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 כמצפן העסקי של המיזם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שמכריח את הצוות לחדד בחירות והנחות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"שריר" ניהולי שכל מנהל צריך לדעת להפעיל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חשיבה אנושית, דיון והכרעה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קבוצתית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וFriendly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212080" cy="2743199"/>
          </a:xfrm>
          <a:prstGeom prst="roundRect">
            <a:avLst>
              <a:gd name="adj" fmla="val 1702"/>
            </a:avLst>
          </a:prstGeom>
          <a:solidFill>
            <a:srgbClr val="D7E4F2">
              <a:alpha val="65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5006340" y="3120716"/>
            <a:ext cx="457200" cy="457200"/>
          </a:xfrm>
          <a:prstGeom prst="ellipse">
            <a:avLst/>
          </a:prstGeom>
          <a:solidFill>
            <a:srgbClr val="E0A5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5006340" y="3120716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5820" y="31024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132912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מידע שנוצר לאורך התהליך לא הולך לאיבוד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מגיעים ליום הקנבס עם בסיס ידע ולא דף ריק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he-IL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מסייע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במחקר, חידוד ואתגור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הבחנה בין עובדה, הנחה ופער מידע</a:t>
            </a:r>
            <a:endParaRPr lang="en-US" sz="1450" dirty="0"/>
          </a:p>
          <a:p>
            <a:pPr marL="228600" indent="-228600" algn="r" rtl="1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הקנבס ממשיך להתעדכן לאחר הסדנה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952632BB-F066-2EF9-22F6-B8D78C323258}"/>
              </a:ext>
            </a:extLst>
          </p:cNvPr>
          <p:cNvSpPr/>
          <p:nvPr/>
        </p:nvSpPr>
        <p:spPr>
          <a:xfrm>
            <a:off x="3254829" y="1228561"/>
            <a:ext cx="8266611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FontTx/>
              <a:buChar char="▪"/>
            </a:pP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מתמונת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מצב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חד-פעמית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(Snapshot) </a:t>
            </a: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ל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← </a:t>
            </a: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מצפן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עסקי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חי</a:t>
            </a:r>
            <a:r>
              <a:rPr lang="he-IL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לאורך כל חיי </a:t>
            </a:r>
            <a:r>
              <a:rPr lang="he-IL" sz="1450" b="1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התכנית</a:t>
            </a:r>
            <a:r>
              <a:rPr lang="he-IL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b="1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(Living Business Compass)</a:t>
            </a:r>
            <a:endParaRPr lang="en-US" sz="1450" dirty="0">
              <a:solidFill>
                <a:srgbClr val="51607A"/>
              </a:solidFill>
              <a:latin typeface="Calibri" pitchFamily="34" charset="0"/>
              <a:cs typeface="Calibri" pitchFamily="34" charset="-120"/>
            </a:endParaRP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בעבר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: ממלאים את הקנבס מהזיכרון הקבוצתי,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מאפס</a:t>
            </a:r>
            <a:endParaRPr lang="en-US" sz="1450" dirty="0">
              <a:solidFill>
                <a:srgbClr val="51607A"/>
              </a:solidFill>
              <a:latin typeface="Calibri" pitchFamily="34" charset="0"/>
              <a:cs typeface="Calibri" pitchFamily="34" charset="-120"/>
            </a:endParaRP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היום: מגיעים עם בסיס ידע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שכבר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נצבר</a:t>
            </a:r>
            <a:endParaRPr lang="en-US" sz="1450" dirty="0">
              <a:solidFill>
                <a:srgbClr val="51607A"/>
              </a:solidFill>
              <a:latin typeface="Calibri" pitchFamily="34" charset="0"/>
              <a:cs typeface="Calibri" pitchFamily="34" charset="-120"/>
            </a:endParaRP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יום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ה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:Lean canvas </a:t>
            </a:r>
            <a:r>
              <a:rPr lang="he-IL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לחדד ← לאתגר ← לבסס ← </a:t>
            </a:r>
            <a:r>
              <a:rPr lang="en-US" sz="145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להכריע</a:t>
            </a:r>
            <a:endParaRPr lang="he-IL" sz="1450" dirty="0">
              <a:solidFill>
                <a:srgbClr val="51607A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Lean Canvas | </a:t>
            </a:r>
            <a:r>
              <a:rPr lang="he-IL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תפיסת היום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212080" cy="4389120"/>
          </a:xfrm>
          <a:prstGeom prst="roundRect">
            <a:avLst>
              <a:gd name="adj" fmla="val 3043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11049000" y="203628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1049000" y="203628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632448" y="199970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 </a:t>
            </a: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-AI </a:t>
            </a:r>
            <a:r>
              <a:rPr lang="he-IL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ביום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58318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היום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מכין: אוסף ומזקק ידע, מזהה פערים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במהלך — מסנתז: מביא לדיון רק ידע רלוונטי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בחשיבה — מאתגר: מציף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הנחות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וblind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spots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בסיום — מתעד ומקבע: Evidence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והחלטות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 (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-Wiki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ידע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נצבר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he-IL" sz="14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לאחר היום – ממשיך לעדכן ולחדד את השינויים בהתאם להתקדמות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325880"/>
            <a:ext cx="5212080" cy="2103120"/>
          </a:xfrm>
          <a:prstGeom prst="roundRect">
            <a:avLst>
              <a:gd name="adj" fmla="val 3043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14" name="Shape 12"/>
          <p:cNvSpPr/>
          <p:nvPr/>
        </p:nvSpPr>
        <p:spPr>
          <a:xfrm>
            <a:off x="5193792" y="1490472"/>
            <a:ext cx="365760" cy="365760"/>
          </a:xfrm>
          <a:prstGeom prst="ellipse">
            <a:avLst/>
          </a:prstGeom>
          <a:solidFill>
            <a:srgbClr val="AFC8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5193792" y="149047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1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◧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77240" y="1453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</a:t>
            </a: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</a:t>
            </a: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מגיעים</a:t>
            </a:r>
            <a:r>
              <a:rPr lang="he-IL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Readiness Pack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187452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תוצרי Unboxing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וDesign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Thinking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לקוחות, בעיה והצעת ערך — מצב עדכני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מחקרים, נתונים וראיונות + Draft 0 מ-Wiki (ידע נצבר)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סימון ראשוני: מבוסס / הנחה / פער / סתירה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5212080" cy="2103120"/>
          </a:xfrm>
          <a:prstGeom prst="roundRect">
            <a:avLst>
              <a:gd name="adj" fmla="val 3043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5193792" y="3776472"/>
            <a:ext cx="365760" cy="365760"/>
          </a:xfrm>
          <a:prstGeom prst="ellipse">
            <a:avLst/>
          </a:prstGeom>
          <a:solidFill>
            <a:srgbClr val="E0A5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5193792" y="3776472"/>
            <a:ext cx="36576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77240" y="37398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</a:t>
            </a: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</a:t>
            </a: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יוצאים</a:t>
            </a:r>
            <a:r>
              <a:rPr lang="he-IL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Lean Canvas v1.0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160520"/>
            <a:ext cx="4754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החלטה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בכל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קובייה, Canvas מזוקק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הבחנה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בין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Fact / Assumption / Gap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הנחות קריטיות שעדיין דורשות תיקוף</a:t>
            </a:r>
            <a:endParaRPr lang="en-US" sz="14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</a:t>
            </a:r>
            <a:r>
              <a:rPr lang="he-IL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</a:t>
            </a:r>
            <a:r>
              <a:rPr lang="en-US" sz="14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להמשך + Trigger </a:t>
            </a:r>
            <a:r>
              <a:rPr lang="en-US" sz="14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לRevisit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אינו יום של מילוי הקנבס — אלא יום של קבלת החלטות עליו.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F0B2A-7D53-4E12-BDBE-B219039B54A3}"/>
              </a:ext>
            </a:extLst>
          </p:cNvPr>
          <p:cNvSpPr txBox="1"/>
          <p:nvPr/>
        </p:nvSpPr>
        <p:spPr>
          <a:xfrm>
            <a:off x="6659880" y="4492535"/>
            <a:ext cx="4754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ביום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העבודה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הקנבס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המידע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שכבר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נאסף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הופך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לטיוטה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ראשונית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שעליה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הצוות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מבצע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התכנסות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אתגור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והכרעה</a:t>
            </a:r>
            <a:r>
              <a:rPr lang="en-US" sz="1400" b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272821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he-IL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 ה </a:t>
            </a: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he-IL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והשינוי שמביא – </a:t>
            </a:r>
          </a:p>
          <a:p>
            <a:pPr marL="0" indent="0" algn="r" rtl="1">
              <a:buNone/>
            </a:pPr>
            <a:r>
              <a:rPr lang="en-US" sz="24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מקנבס</a:t>
            </a: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שממלאים לקנבס שמקבלים עליו החלטות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983980" y="1920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89839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983980" y="2450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חושבים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55380" y="2592324"/>
            <a:ext cx="164592" cy="164592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846820" y="3566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first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הצוות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מנסח עמדה לפני שהוא מקבל תשובה.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26580" y="1920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AFC8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9265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26580" y="2450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מאתגרים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97980" y="2592324"/>
            <a:ext cx="164592" cy="164592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789420" y="3566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he-IL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challenger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-AI מציף blind </a:t>
            </a:r>
            <a:r>
              <a:rPr lang="he-IL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spots, חלופות ושאלות.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69180" y="1920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E0A54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8691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69180" y="2450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מבססים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40580" y="2592324"/>
            <a:ext cx="164592" cy="164592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732020" y="3566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מביאים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נתונים, מחקר, ידע קודם ומקורות.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11780" y="1920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AFC8E3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28117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11780" y="2450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מחליטים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583180" y="2592324"/>
            <a:ext cx="164592" cy="164592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2674620" y="3566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הצוות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מבצע trade-offs ומכריע.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4380" y="1920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754380" y="20574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4380" y="2450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מקבעים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7220" y="35661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Knowledge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ההחלטה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הופכת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לגרסה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העדכנית</a:t>
            </a:r>
            <a:r>
              <a:rPr lang="en-US" sz="10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8064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</a:t>
            </a:r>
            <a:r>
              <a:rPr lang="he-IL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בעבודת</a:t>
            </a: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ידע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580644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217920" y="5806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he-IL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Human-first </a:t>
            </a:r>
            <a:r>
              <a:rPr lang="he-IL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במשמעות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ובהכרעה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755" y="294237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/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Lean Canvas </a:t>
            </a:r>
            <a:r>
              <a:rPr lang="he-IL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עם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עדכון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ממוקד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לעידן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החדש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לא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קנבס</a:t>
            </a:r>
            <a:r>
              <a:rPr lang="en-US" sz="3000" b="1" dirty="0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 AI </a:t>
            </a:r>
            <a:r>
              <a:rPr lang="en-US" sz="3000" b="1" dirty="0" err="1">
                <a:solidFill>
                  <a:srgbClr val="1B2A4A"/>
                </a:solidFill>
                <a:latin typeface="Arial" pitchFamily="34" charset="0"/>
                <a:cs typeface="Arial" pitchFamily="34" charset="-120"/>
              </a:rPr>
              <a:t>חדש</a:t>
            </a:r>
            <a:endParaRPr lang="en-US" sz="3000" b="1" dirty="0">
              <a:solidFill>
                <a:srgbClr val="1B2A4A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1430000" cy="466344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9509760" y="137160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286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4937760" y="3154680"/>
            <a:ext cx="2286000" cy="1417320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2651760" y="3154680"/>
            <a:ext cx="2286000" cy="1417320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4937760" y="137160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2286000" cy="1783080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2286000" cy="1783080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223760" y="3154680"/>
            <a:ext cx="2286000" cy="1417320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2286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6080760" y="4572000"/>
            <a:ext cx="5715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5715000" cy="1463040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582912" y="142646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הלקוחות (1)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8912" y="142646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הבעיות (2)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10912" y="320954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תחשב הצלחה (3)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724912" y="320954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יעדים מדידים (4)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10912" y="142646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הצעת ערך ייחודית (5)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724912" y="142646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 (6)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96912" y="142646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מפתחות להצלחה (7)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96912" y="320954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הטמעה/ פריסה (8)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8912" y="3209544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שותפים בפרויקט (9)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53912" y="4626864"/>
            <a:ext cx="5568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תמורה וערך לארגון / למדינה (בכלכלי ו/</a:t>
            </a:r>
            <a:r>
              <a:rPr lang="en-US" sz="125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</a:t>
            </a: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</a:t>
            </a: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(10)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" y="4626864"/>
            <a:ext cx="5568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he-IL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תשומות/משאבים (12)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743200" y="1828800"/>
            <a:ext cx="210312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חלוקת עבודה: אדם / AI / Agent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האדם עושה, מה ה-AI עושה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איפה נדרש אישור אנושי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611880"/>
            <a:ext cx="21031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קודם מגדירים Outcome אנושי/עסקי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איזה שינוי אמיתי רוצים לראות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ה-AI מסייע רק לאחר מכן לחדד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3611880"/>
            <a:ext cx="21031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תוצאתיים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איכות ודיוק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אמון ושימוש אפקטיבי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1828800"/>
            <a:ext cx="210312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he-IL" sz="9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יתרון יחסי בעידן ה </a:t>
            </a:r>
            <a:r>
              <a:rPr lang="en-US" sz="9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AI  </a:t>
            </a:r>
            <a:r>
              <a:rPr lang="he-IL" sz="9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/ מה חייב לקרות בעידו ה  </a:t>
            </a:r>
            <a:r>
              <a:rPr lang="en-US" sz="9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AI </a:t>
            </a:r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he-IL" sz="9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מקורות מידע קריטיים / דאטה ואמון</a:t>
            </a:r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משילות</a:t>
            </a: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(governance) </a:t>
            </a:r>
            <a:r>
              <a:rPr lang="en-US" sz="9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והרשאות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</a:t>
            </a: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תהליכי</a:t>
            </a: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</a:t>
            </a:r>
            <a:endParaRPr lang="he-IL" sz="900" dirty="0">
              <a:solidFill>
                <a:srgbClr val="5160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0" y="3611880"/>
            <a:ext cx="210312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אימוץ משתמשים, פריסה הדרגתית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אנושי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הדרכה, שליטה ובקרה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029200"/>
            <a:ext cx="55321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דאטה, מערכות והרשאות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/ כלים, Evaluation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שימוש (inference / tokens)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שינוי מהותי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שינוי מהותי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שינוי מהותי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שינוי מהותי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5715000"/>
            <a:ext cx="5532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90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שינוי מהותי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65BFB38C-8FB0-F219-65F8-05413EAE4D9A}"/>
              </a:ext>
            </a:extLst>
          </p:cNvPr>
          <p:cNvSpPr/>
          <p:nvPr/>
        </p:nvSpPr>
        <p:spPr>
          <a:xfrm>
            <a:off x="365760" y="6199632"/>
            <a:ext cx="201168" cy="201168"/>
          </a:xfrm>
          <a:prstGeom prst="rect">
            <a:avLst/>
          </a:prstGeom>
          <a:solidFill>
            <a:srgbClr val="FBF3E3"/>
          </a:solidFill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9C08E45B-977B-34E4-A5C5-996E8BC16723}"/>
              </a:ext>
            </a:extLst>
          </p:cNvPr>
          <p:cNvSpPr/>
          <p:nvPr/>
        </p:nvSpPr>
        <p:spPr>
          <a:xfrm>
            <a:off x="658368" y="6135624"/>
            <a:ext cx="2280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קוביות עם התאמה משמעותית לעידן ה-AI</a:t>
            </a:r>
            <a:endParaRPr lang="en-US" sz="1100" dirty="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10515DD6-8A99-B85F-0EC4-862EC6CFC7AB}"/>
              </a:ext>
            </a:extLst>
          </p:cNvPr>
          <p:cNvSpPr/>
          <p:nvPr/>
        </p:nvSpPr>
        <p:spPr>
          <a:xfrm>
            <a:off x="360099" y="6565392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3DF6281E-A029-7333-689B-E4663F9361A5}"/>
              </a:ext>
            </a:extLst>
          </p:cNvPr>
          <p:cNvSpPr/>
          <p:nvPr/>
        </p:nvSpPr>
        <p:spPr>
          <a:xfrm>
            <a:off x="634419" y="6501384"/>
            <a:ext cx="99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שינוי מבני</a:t>
            </a:r>
            <a:endParaRPr lang="en-US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A387D4-7779-74BD-8B74-C4BC72913BA9}"/>
              </a:ext>
            </a:extLst>
          </p:cNvPr>
          <p:cNvSpPr txBox="1"/>
          <p:nvPr/>
        </p:nvSpPr>
        <p:spPr>
          <a:xfrm>
            <a:off x="9491472" y="3785616"/>
            <a:ext cx="2258568" cy="23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5000"/>
              </a:lnSpc>
              <a:spcAft>
                <a:spcPts val="300"/>
              </a:spcAft>
              <a:buSzPct val="100000"/>
            </a:pPr>
            <a:r>
              <a:rPr lang="he-IL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מאמצים מוקדמים</a:t>
            </a:r>
            <a:endParaRPr lang="en-US" sz="9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7BAD7D-2D71-E62A-8224-FE2DD9F5545F}"/>
              </a:ext>
            </a:extLst>
          </p:cNvPr>
          <p:cNvSpPr txBox="1"/>
          <p:nvPr/>
        </p:nvSpPr>
        <p:spPr>
          <a:xfrm>
            <a:off x="360099" y="2600935"/>
            <a:ext cx="2258568" cy="231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5000"/>
              </a:lnSpc>
              <a:spcAft>
                <a:spcPts val="300"/>
              </a:spcAft>
              <a:buSzPct val="100000"/>
            </a:pPr>
            <a:r>
              <a:rPr lang="he-IL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אלטרנטיבות במצב קיים</a:t>
            </a:r>
            <a:endParaRPr lang="en-US" sz="900" dirty="0"/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33707883-8ABC-AEF6-8494-54F7EA7D4A1B}"/>
              </a:ext>
            </a:extLst>
          </p:cNvPr>
          <p:cNvSpPr/>
          <p:nvPr/>
        </p:nvSpPr>
        <p:spPr>
          <a:xfrm>
            <a:off x="609600" y="5181600"/>
            <a:ext cx="110947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</a:t>
            </a:r>
            <a:r>
              <a:rPr lang="he-IL" sz="9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של תהליך  - התייעלות </a:t>
            </a:r>
            <a:endParaRPr lang="en-US" sz="900" dirty="0"/>
          </a:p>
          <a:p>
            <a:pPr marL="152400" indent="-152400" algn="r" rtl="1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הקנבס החדש לא מציג רק "מה החלטנו" — אלא גם עד כמה אנחנו יודעים שזה נכון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075420" y="19202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9966960" y="2240280"/>
            <a:ext cx="731520" cy="731520"/>
          </a:xfrm>
          <a:prstGeom prst="ellipse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9966960" y="2240280"/>
            <a:ext cx="73152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40" dirty="0"/>
          </a:p>
        </p:txBody>
      </p:sp>
      <p:sp>
        <p:nvSpPr>
          <p:cNvPr id="6" name="Text 4"/>
          <p:cNvSpPr/>
          <p:nvPr/>
        </p:nvSpPr>
        <p:spPr>
          <a:xfrm>
            <a:off x="907542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מבוסס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212580" y="3566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 evidence / נתונים / מקור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0780" y="19202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7132320" y="2240280"/>
            <a:ext cx="731520" cy="731520"/>
          </a:xfrm>
          <a:prstGeom prst="ellipse">
            <a:avLst/>
          </a:prstGeom>
          <a:solidFill>
            <a:srgbClr val="D9A62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7132320" y="2240280"/>
            <a:ext cx="73152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240" dirty="0"/>
          </a:p>
        </p:txBody>
      </p:sp>
      <p:sp>
        <p:nvSpPr>
          <p:cNvPr id="11" name="Text 9"/>
          <p:cNvSpPr/>
          <p:nvPr/>
        </p:nvSpPr>
        <p:spPr>
          <a:xfrm>
            <a:off x="624078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77940" y="3566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החלטה שעדיין דורשת תיקוף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6140" y="19202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731520" cy="731520"/>
          </a:xfrm>
          <a:prstGeom prst="ellipse">
            <a:avLst/>
          </a:prstGeom>
          <a:solidFill>
            <a:srgbClr val="8B96A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4297680" y="2240280"/>
            <a:ext cx="73152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40" dirty="0"/>
          </a:p>
        </p:txBody>
      </p:sp>
      <p:sp>
        <p:nvSpPr>
          <p:cNvPr id="16" name="Text 14"/>
          <p:cNvSpPr/>
          <p:nvPr/>
        </p:nvSpPr>
        <p:spPr>
          <a:xfrm>
            <a:off x="340614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 מידע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43300" y="3566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מידע שחסר כדי לקבל החלטה טובה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1500" y="192024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1463040" y="2240280"/>
            <a:ext cx="731520" cy="731520"/>
          </a:xfrm>
          <a:prstGeom prst="ellipse">
            <a:avLst/>
          </a:prstGeom>
          <a:solidFill>
            <a:srgbClr val="D97B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463040" y="2240280"/>
            <a:ext cx="731520" cy="7315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2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40" dirty="0"/>
          </a:p>
        </p:txBody>
      </p:sp>
      <p:sp>
        <p:nvSpPr>
          <p:cNvPr id="21" name="Text 19"/>
          <p:cNvSpPr/>
          <p:nvPr/>
        </p:nvSpPr>
        <p:spPr>
          <a:xfrm>
            <a:off x="57150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סתירה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" y="3566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מידע חדש מתנגש עם הנחה או החלטה קיימת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45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en-US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-AI  </a:t>
            </a:r>
            <a:r>
              <a:rPr lang="he-IL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ימלא </a:t>
            </a:r>
            <a:r>
              <a:rPr lang="en-US" sz="145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</a:t>
            </a:r>
            <a:r>
              <a:rPr lang="en-US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החסר באמצעות ניחוש. </a:t>
            </a:r>
            <a:r>
              <a:rPr lang="en-US" sz="145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</a:t>
            </a:r>
            <a:r>
              <a:rPr lang="en-US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יזהה </a:t>
            </a:r>
            <a:r>
              <a:rPr lang="en-US" sz="145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</a:t>
            </a:r>
            <a:r>
              <a:rPr lang="en-US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החסר</a:t>
            </a:r>
            <a:r>
              <a:rPr lang="en-US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ויהפוך</a:t>
            </a:r>
            <a:r>
              <a:rPr lang="en-US" sz="145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אותו למשימת למידה.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0">
            <a:extLst>
              <a:ext uri="{FF2B5EF4-FFF2-40B4-BE49-F238E27FC236}">
                <a16:creationId xmlns:a16="http://schemas.microsoft.com/office/drawing/2014/main" id="{04BB4061-D962-BAC4-6F7F-25F6FB673417}"/>
              </a:ext>
            </a:extLst>
          </p:cNvPr>
          <p:cNvSpPr/>
          <p:nvPr/>
        </p:nvSpPr>
        <p:spPr>
          <a:xfrm>
            <a:off x="6568437" y="57189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חוויית סדנה חדשה: פחות מילוי, יותר חשיבה ואתגור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80760" y="1554479"/>
            <a:ext cx="15240" cy="4849913"/>
          </a:xfrm>
          <a:prstGeom prst="line">
            <a:avLst/>
          </a:prstGeom>
          <a:noFill/>
          <a:ln w="25400">
            <a:solidFill>
              <a:srgbClr val="AFC8E3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5824728" y="1737360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824728" y="1737360"/>
            <a:ext cx="512064" cy="5120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68" dirty="0"/>
          </a:p>
        </p:txBody>
      </p:sp>
      <p:sp>
        <p:nvSpPr>
          <p:cNvPr id="6" name="Shape 4"/>
          <p:cNvSpPr/>
          <p:nvPr/>
        </p:nvSpPr>
        <p:spPr>
          <a:xfrm>
            <a:off x="6537960" y="169164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675120" y="1691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he-IL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היום - 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Lean readiness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24728" y="2395728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5824728" y="2395728"/>
            <a:ext cx="512064" cy="5120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777240" y="2350008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914400" y="23500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Lean Canvas Thinking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24728" y="3054096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5824728" y="3054096"/>
            <a:ext cx="512064" cy="5120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68" dirty="0"/>
          </a:p>
        </p:txBody>
      </p:sp>
      <p:sp>
        <p:nvSpPr>
          <p:cNvPr id="14" name="Shape 12"/>
          <p:cNvSpPr/>
          <p:nvPr/>
        </p:nvSpPr>
        <p:spPr>
          <a:xfrm>
            <a:off x="6537960" y="3008376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675120" y="300837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1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Draft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24728" y="3712464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824728" y="3712464"/>
            <a:ext cx="512064" cy="5120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68" dirty="0"/>
          </a:p>
        </p:txBody>
      </p:sp>
      <p:sp>
        <p:nvSpPr>
          <p:cNvPr id="18" name="Shape 16"/>
          <p:cNvSpPr/>
          <p:nvPr/>
        </p:nvSpPr>
        <p:spPr>
          <a:xfrm>
            <a:off x="777240" y="3666744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1124712" y="3638659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Challenge → Evidence → Decide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24728" y="4370832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824728" y="4370832"/>
            <a:ext cx="512064" cy="5120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68" dirty="0"/>
          </a:p>
        </p:txBody>
      </p:sp>
      <p:sp>
        <p:nvSpPr>
          <p:cNvPr id="22" name="Shape 20"/>
          <p:cNvSpPr/>
          <p:nvPr/>
        </p:nvSpPr>
        <p:spPr>
          <a:xfrm>
            <a:off x="6537960" y="4325112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6601096" y="4306498"/>
            <a:ext cx="481366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/>
            <a:r>
              <a:rPr lang="en-US" sz="125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Friendly</a:t>
            </a: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Tip</a:t>
            </a: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2.0</a:t>
            </a:r>
          </a:p>
        </p:txBody>
      </p:sp>
      <p:sp>
        <p:nvSpPr>
          <p:cNvPr id="24" name="Shape 22"/>
          <p:cNvSpPr/>
          <p:nvPr/>
        </p:nvSpPr>
        <p:spPr>
          <a:xfrm>
            <a:off x="5824728" y="5029200"/>
            <a:ext cx="512064" cy="512064"/>
          </a:xfrm>
          <a:prstGeom prst="ellipse">
            <a:avLst/>
          </a:prstGeom>
          <a:solidFill>
            <a:srgbClr val="E0A544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824728" y="5029200"/>
            <a:ext cx="512064" cy="51206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 rtl="1">
              <a:buNone/>
            </a:pPr>
            <a:r>
              <a:rPr lang="en-US" sz="156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68" dirty="0"/>
          </a:p>
        </p:txBody>
      </p:sp>
      <p:sp>
        <p:nvSpPr>
          <p:cNvPr id="26" name="Shape 24"/>
          <p:cNvSpPr/>
          <p:nvPr/>
        </p:nvSpPr>
        <p:spPr>
          <a:xfrm>
            <a:off x="635508" y="5004708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914400" y="4983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&amp; PIN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04393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היום יוצאים עם Lean Canvas v1.0 מוסכם ומקובע.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80A9A50-0CE4-A2DE-3943-4F48272DF29E}"/>
              </a:ext>
            </a:extLst>
          </p:cNvPr>
          <p:cNvSpPr/>
          <p:nvPr/>
        </p:nvSpPr>
        <p:spPr>
          <a:xfrm>
            <a:off x="8260080" y="1681625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עובר על הידע שנצבר בפרויקט לפני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יום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הLean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מזהה מה ידוע, מה מבוסס, ומה דורש מחקר</a:t>
            </a:r>
            <a:endParaRPr lang="en-US" sz="10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AB250401-810E-5A54-55D7-4D41E31C36F2}"/>
              </a:ext>
            </a:extLst>
          </p:cNvPr>
          <p:cNvSpPr/>
          <p:nvPr/>
        </p:nvSpPr>
        <p:spPr>
          <a:xfrm>
            <a:off x="-269530" y="2513947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he-IL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פתיחה - מתודה וחשיבה במליאה</a:t>
            </a:r>
            <a:endParaRPr lang="en-US" sz="10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8BA308FE-73AD-85D2-0A54-DCFDF8B0B2AE}"/>
              </a:ext>
            </a:extLst>
          </p:cNvPr>
          <p:cNvSpPr/>
          <p:nvPr/>
        </p:nvSpPr>
        <p:spPr>
          <a:xfrm>
            <a:off x="7970521" y="2980944"/>
            <a:ext cx="344423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he-IL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עבודה בקבוצות – מהידע הרלוונטי שנצבר ל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0</a:t>
            </a: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he-IL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דיון בקוביות עם ידע /שנעשתה עבודה - מציג 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draft</a:t>
            </a:r>
            <a:r>
              <a:rPr lang="he-IL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לפתיחת דיון</a:t>
            </a:r>
            <a:endParaRPr lang="en-US" sz="10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CAA3572-24E4-8BE5-B7C2-4DCB6651C0A4}"/>
              </a:ext>
            </a:extLst>
          </p:cNvPr>
          <p:cNvSpPr/>
          <p:nvPr/>
        </p:nvSpPr>
        <p:spPr>
          <a:xfrm>
            <a:off x="667513" y="3675235"/>
            <a:ext cx="2217637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בקוביות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Human-first </a:t>
            </a:r>
            <a:r>
              <a:rPr lang="he-IL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מציע חלופות לאחר שהצוות חשב והציג עמדה ראשונית</a:t>
            </a: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FF1F7B-F735-27FD-DA97-C1E81D89EB5D}"/>
              </a:ext>
            </a:extLst>
          </p:cNvPr>
          <p:cNvSpPr txBox="1"/>
          <p:nvPr/>
        </p:nvSpPr>
        <p:spPr>
          <a:xfrm>
            <a:off x="7859486" y="4428425"/>
            <a:ext cx="1752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1" eaLnBrk="1" latinLnBrk="0" hangingPunct="1"/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IL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39968F8B-3923-6AD4-ED55-3CB0230E6037}"/>
              </a:ext>
            </a:extLst>
          </p:cNvPr>
          <p:cNvSpPr/>
          <p:nvPr/>
        </p:nvSpPr>
        <p:spPr>
          <a:xfrm>
            <a:off x="505968" y="5004871"/>
            <a:ext cx="3154680" cy="2063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FontTx/>
              <a:buChar char="▪"/>
            </a:pP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מהדיון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לSource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of Truth</a:t>
            </a:r>
            <a:endParaRPr lang="he-IL" sz="1000" dirty="0">
              <a:solidFill>
                <a:srgbClr val="5160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he-IL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סיום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בגרסה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מוסכמת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אחת</a:t>
            </a:r>
            <a:r>
              <a:rPr lang="he-IL" sz="1000" dirty="0"/>
              <a:t> , </a:t>
            </a:r>
            <a:r>
              <a:rPr lang="he-IL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תעוד</a:t>
            </a:r>
            <a:r>
              <a:rPr lang="he-IL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מה הוחלט ועל בסיס מה</a:t>
            </a:r>
            <a:endParaRPr lang="en-US" sz="1000" dirty="0">
              <a:solidFill>
                <a:srgbClr val="51607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4BD650A6-3F88-0EE2-D866-AC122EB0647E}"/>
              </a:ext>
            </a:extLst>
          </p:cNvPr>
          <p:cNvSpPr/>
          <p:nvPr/>
        </p:nvSpPr>
        <p:spPr>
          <a:xfrm>
            <a:off x="5824728" y="5682343"/>
            <a:ext cx="512064" cy="51206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pPr algn="r" rtl="1"/>
            <a:r>
              <a:rPr lang="he-IL" dirty="0">
                <a:solidFill>
                  <a:schemeClr val="bg1"/>
                </a:solidFill>
              </a:rPr>
              <a:t>7</a:t>
            </a: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7EE72ECB-F401-A435-1E92-451C0780300D}"/>
              </a:ext>
            </a:extLst>
          </p:cNvPr>
          <p:cNvSpPr/>
          <p:nvPr/>
        </p:nvSpPr>
        <p:spPr>
          <a:xfrm>
            <a:off x="6537960" y="5743848"/>
            <a:ext cx="481366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/>
            <a:r>
              <a:rPr lang="en-US" sz="125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Friendly</a:t>
            </a: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Tip</a:t>
            </a: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2.0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1B0E94-69F1-3085-3B1B-D5D280CD1B0D}"/>
              </a:ext>
            </a:extLst>
          </p:cNvPr>
          <p:cNvSpPr txBox="1"/>
          <p:nvPr/>
        </p:nvSpPr>
        <p:spPr>
          <a:xfrm>
            <a:off x="7796350" y="5865775"/>
            <a:ext cx="1752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rtl="1" eaLnBrk="1" latinLnBrk="0" hangingPunct="1"/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</a:t>
            </a:r>
            <a:endParaRPr lang="en-IL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BE5988-9146-F6F2-4D4B-C668F2438F54}"/>
              </a:ext>
            </a:extLst>
          </p:cNvPr>
          <p:cNvSpPr txBox="1"/>
          <p:nvPr/>
        </p:nvSpPr>
        <p:spPr>
          <a:xfrm>
            <a:off x="8638899" y="5635116"/>
            <a:ext cx="2806335" cy="664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מנסה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להפיל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את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הקנבס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לפני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שהמציאות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עושה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cs typeface="Calibri" pitchFamily="34" charset="-120"/>
              </a:rPr>
              <a:t>זאת</a:t>
            </a:r>
            <a:endParaRPr lang="he-IL" sz="1000" dirty="0">
              <a:solidFill>
                <a:srgbClr val="51607A"/>
              </a:solidFill>
              <a:latin typeface="Calibri" pitchFamily="34" charset="0"/>
              <a:cs typeface="Calibri" pitchFamily="34" charset="-120"/>
            </a:endParaRPr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FontTx/>
              <a:buChar char="▪"/>
            </a:pP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מאתגר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e-IL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 הרעיון ו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מחפש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הנחות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שגויות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וסתירות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שעלולות</a:t>
            </a: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להכשיל</a:t>
            </a:r>
            <a:r>
              <a:rPr lang="he-IL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מייצר משימות להמשך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הקנבס לא נגמר בסוף הסדנה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20640" y="2834640"/>
            <a:ext cx="1920240" cy="19202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5120640" y="28346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</a:t>
            </a:r>
            <a:endParaRPr lang="en-US" sz="1600" dirty="0"/>
          </a:p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80760" y="37947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6080760" y="2017166"/>
            <a:ext cx="15240" cy="1479747"/>
          </a:xfrm>
          <a:prstGeom prst="line">
            <a:avLst/>
          </a:prstGeom>
          <a:noFill/>
          <a:ln w="1587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5212080" y="1765706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E4F2">
              <a:alpha val="80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5212080" y="176570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Product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37947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 flipV="1">
            <a:off x="6464372" y="3228744"/>
            <a:ext cx="1049271" cy="428856"/>
          </a:xfrm>
          <a:prstGeom prst="line">
            <a:avLst/>
          </a:prstGeom>
          <a:noFill/>
          <a:ln w="1587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560124" y="2993993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E4F2">
              <a:alpha val="80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560124" y="2993993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37947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6408748" y="4046219"/>
            <a:ext cx="1123183" cy="1186644"/>
          </a:xfrm>
          <a:prstGeom prst="line">
            <a:avLst/>
          </a:prstGeom>
          <a:noFill/>
          <a:ln w="1587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6663251" y="4981403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E4F2">
              <a:alpha val="80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663251" y="4981403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37947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 flipV="1">
            <a:off x="4746172" y="4068413"/>
            <a:ext cx="1037081" cy="912989"/>
          </a:xfrm>
          <a:prstGeom prst="line">
            <a:avLst/>
          </a:prstGeom>
          <a:noFill/>
          <a:ln w="1587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9" name="Shape 17"/>
          <p:cNvSpPr/>
          <p:nvPr/>
        </p:nvSpPr>
        <p:spPr>
          <a:xfrm>
            <a:off x="3760909" y="4981403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D7E4F2">
              <a:alpha val="80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3760909" y="4981403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379476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3732716" y="3245454"/>
            <a:ext cx="1964432" cy="412146"/>
          </a:xfrm>
          <a:prstGeom prst="line">
            <a:avLst/>
          </a:prstGeom>
          <a:noFill/>
          <a:ln w="15875">
            <a:solidFill>
              <a:srgbClr val="D7DEE8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2864036" y="2993993"/>
            <a:ext cx="1737360" cy="502920"/>
          </a:xfrm>
          <a:prstGeom prst="roundRect">
            <a:avLst>
              <a:gd name="adj" fmla="val 50000"/>
            </a:avLst>
          </a:prstGeom>
          <a:solidFill>
            <a:srgbClr val="D7E4F2">
              <a:alpha val="80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2864036" y="2993993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מציע שינוי. הצוות </a:t>
            </a:r>
            <a:r>
              <a:rPr lang="en-US" sz="150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</a:t>
            </a: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i="1" dirty="0" err="1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שינוי</a:t>
            </a: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5000"/>
              </a:lnSpc>
              <a:buNone/>
            </a:pPr>
            <a:r>
              <a:rPr lang="he-IL" sz="3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דוגמאות לסוכנים /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Skills </a:t>
            </a:r>
            <a:r>
              <a:rPr lang="he-IL" sz="3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30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 rtl="1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Lean Canvas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83480" y="3341915"/>
            <a:ext cx="2194560" cy="0"/>
          </a:xfrm>
          <a:prstGeom prst="line">
            <a:avLst/>
          </a:prstGeom>
          <a:noFill/>
          <a:ln w="25400">
            <a:solidFill>
              <a:srgbClr val="E0A5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731520" y="3570515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Lean Canvas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Readiness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מגיעים מוכנים ליום — לא מדף ריק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0100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עובר על הידע שנצבר בפרויקט לפני יום ה-Lean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מזהה מה ידוע, מה מבוסס, ומה דורש מחקר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4348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 Analysis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Mapping · 5W1H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· Fact vs. Assumption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772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ימים לפני יום ה-Lean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ניתן להריץ עדכון נוסף בבוקר הסדנה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6102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9818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818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Unboxing · Design Thinking · Personas · Problem · Value Prop · Research ·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526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432054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457700" y="29260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Readiness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5478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8006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BF3E3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1722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Readiness Pack: Draft 0, Evidence, פערים, סתירות, Research Missions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ויזואלית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4087368"/>
            <a:ext cx="8686800" cy="38404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8686800" y="40873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נושא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40873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ידוע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0873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סטטוס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0873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חסר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4471416"/>
            <a:ext cx="868680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8686800" y="447141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יעד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447141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05000"/>
              </a:lnSpc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בעלי עסקים קטנים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64608" y="4636008"/>
            <a:ext cx="237744" cy="237744"/>
          </a:xfrm>
          <a:prstGeom prst="ellipse">
            <a:avLst/>
          </a:prstGeom>
          <a:solidFill>
            <a:srgbClr val="D9A62E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864608" y="46360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572" dirty="0"/>
          </a:p>
        </p:txBody>
      </p:sp>
      <p:sp>
        <p:nvSpPr>
          <p:cNvPr id="34" name="Text 32"/>
          <p:cNvSpPr/>
          <p:nvPr/>
        </p:nvSpPr>
        <p:spPr>
          <a:xfrm>
            <a:off x="1828800" y="4471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05000"/>
              </a:lnSpc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היקף הקהל והסגמנטים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737360" y="5038344"/>
            <a:ext cx="86868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8686800" y="503834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בעיה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0" y="5038344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05000"/>
              </a:lnSpc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טיפול ארוך — 10 ימים בממוצע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64608" y="5202936"/>
            <a:ext cx="237744" cy="237744"/>
          </a:xfrm>
          <a:prstGeom prst="ellipse">
            <a:avLst/>
          </a:prstGeom>
          <a:solidFill>
            <a:srgbClr val="4C9A6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4864608" y="52029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572" dirty="0"/>
          </a:p>
        </p:txBody>
      </p:sp>
      <p:sp>
        <p:nvSpPr>
          <p:cNvPr id="40" name="Text 38"/>
          <p:cNvSpPr/>
          <p:nvPr/>
        </p:nvSpPr>
        <p:spPr>
          <a:xfrm>
            <a:off x="1828800" y="503834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05000"/>
              </a:lnSpc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גורם לעיכוב / באיזה שלב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737360" y="5605272"/>
            <a:ext cx="868680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Text 40"/>
          <p:cNvSpPr/>
          <p:nvPr/>
        </p:nvSpPr>
        <p:spPr>
          <a:xfrm>
            <a:off x="8686800" y="5605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נוכחי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0" y="560527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05000"/>
              </a:lnSpc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ידוע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64608" y="5769864"/>
            <a:ext cx="237744" cy="237744"/>
          </a:xfrm>
          <a:prstGeom prst="ellipse">
            <a:avLst/>
          </a:prstGeom>
          <a:solidFill>
            <a:srgbClr val="8B96A8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5" name="Text 43"/>
          <p:cNvSpPr/>
          <p:nvPr/>
        </p:nvSpPr>
        <p:spPr>
          <a:xfrm>
            <a:off x="4864608" y="576986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72" dirty="0"/>
          </a:p>
        </p:txBody>
      </p:sp>
      <p:sp>
        <p:nvSpPr>
          <p:cNvPr id="46" name="Text 44"/>
          <p:cNvSpPr/>
          <p:nvPr/>
        </p:nvSpPr>
        <p:spPr>
          <a:xfrm>
            <a:off x="1828800" y="56052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05000"/>
              </a:lnSpc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איך המשתמשים מתמודדים היום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Synthesizer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מהידע להחלטה — נשען על מחשבת הצוות ומרחיב אותה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0100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מביא לדיון בכל קובייה רק ידע רלוונטי שכבר קיים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בקוביות Human-first — לא מציג ניסוח לפני שהצוות חשב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4348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 Logic · Synthesis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vs. Assumption · Cross-stage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772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כשכבר נעשתה עבודה — מציג Draft בפתיחת הדיון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בקוביות Human-first — רק אחרי עמדה ראשונית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6102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9818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818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(ידע נצבר) · Draft 0 · Evidence · החלטות קודמות · הדיון הנוכחי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526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432054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457700" y="29260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Synthesizer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5478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8006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BF3E3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1722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 · 1–2 הצעות חידוד · סתירות · שאלות פתוחות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ויזואלית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691640" y="4087368"/>
            <a:ext cx="877824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8732520" y="4087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Input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0873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"הצלחה מבחינתנו היא שאזרחים יסיימו את התהליך בלי צורך לפנות לנציג."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98464" y="4636008"/>
            <a:ext cx="164592" cy="146304"/>
          </a:xfrm>
          <a:prstGeom prst="down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1691640" y="4828032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 Alternative Perspectives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65720" y="5093208"/>
            <a:ext cx="2804160" cy="777240"/>
          </a:xfrm>
          <a:prstGeom prst="roundRect">
            <a:avLst>
              <a:gd name="adj" fmla="val 9412"/>
            </a:avLst>
          </a:prstGeom>
          <a:solidFill>
            <a:srgbClr val="D7E4F2">
              <a:alpha val="85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7775448" y="5166360"/>
            <a:ext cx="258470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2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חלופה 1: יותר אזרחים משלימים את התהליך מקצה לקצה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78680" y="5093208"/>
            <a:ext cx="2804160" cy="777240"/>
          </a:xfrm>
          <a:prstGeom prst="roundRect">
            <a:avLst>
              <a:gd name="adj" fmla="val 9412"/>
            </a:avLst>
          </a:prstGeom>
          <a:solidFill>
            <a:srgbClr val="D7E4F2">
              <a:alpha val="85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788408" y="5166360"/>
            <a:ext cx="258470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2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חלופה 2: פחות פניות אנושיות, בלי ירידה באיכות השירות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91640" y="5093208"/>
            <a:ext cx="2804160" cy="777240"/>
          </a:xfrm>
          <a:prstGeom prst="roundRect">
            <a:avLst>
              <a:gd name="adj" fmla="val 9412"/>
            </a:avLst>
          </a:prstGeom>
          <a:solidFill>
            <a:srgbClr val="D7E4F2">
              <a:alpha val="85000"/>
            </a:srgbClr>
          </a:solidFill>
          <a:ln w="12700">
            <a:solidFill>
              <a:srgbClr val="AFC8E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1801368" y="5166360"/>
            <a:ext cx="2584704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12000"/>
              </a:lnSpc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חלופה 3: שילוב completion rate גבוה עם קיצור זמן טיפול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98464" y="5916168"/>
            <a:ext cx="164592" cy="146304"/>
          </a:xfrm>
          <a:prstGeom prst="down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6" name="Shape 34"/>
          <p:cNvSpPr/>
          <p:nvPr/>
        </p:nvSpPr>
        <p:spPr>
          <a:xfrm>
            <a:off x="6217920" y="6099048"/>
            <a:ext cx="42519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309360" y="6153912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Discussion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09360" y="63733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באמת משקף את ה-Outcome שאנחנו רוצים?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691640" y="6099048"/>
            <a:ext cx="4251960" cy="530352"/>
          </a:xfrm>
          <a:prstGeom prst="roundRect">
            <a:avLst>
              <a:gd name="adj" fmla="val 1379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1783080" y="6153912"/>
            <a:ext cx="4069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Decision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83080" y="63733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"הגדלת שיעור השלמת התהליך העצמאי, בלי ירידה באיכות."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PIN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מהדיון ל-Source of Truth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0100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מוודא שהיום מסתיים בגרסה מוסכמת אחת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מתעד מה הוחלט, למה, ועל בסיס מה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4348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 · Versioning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Status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Tracking · Hypothesis→Test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772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לאחר הכרעות משמעותיות לאורך היום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ובאופן מרוכז בסיום היום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6102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9818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818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Canvas · Team Decisions · Red Team Feedback · Evidence · Open Assumptions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526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432054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457700" y="29260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&amp; PIN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5478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8006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BF3E3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1722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 v1.0 – PINNED · Decision Log · הנחות קריטיות · Next Tests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ויזואלית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965960" y="4087368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2240280" y="422452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PINNED  |  Lean Canvas v1.0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80760" y="4681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7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919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היעד צומצם מ-X ל-Y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40280" y="4681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7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40280" y="4919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חדש ממחקר משתמשים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5230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7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Assumption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5468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נכונות לאימוץ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40280" y="5230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b="1" dirty="0">
                <a:solidFill>
                  <a:srgbClr val="D7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0280" y="5468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240280" y="55321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4C9A6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2240280" y="55321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Evidence Based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מנסה להפיל את הקנבס לפני שהמציאות עושה זאת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0100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משפר את הרעיון — מאתגר אותו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מחפש הנחות שגויות וסתירות שעלולות להכשיל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4348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Pre-mortem · 5 Whys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Stress Test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 · Counterfactual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280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777240" y="14081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כשהקנבס כמעט מלא · במהלך Friendly Tip</a:t>
            </a:r>
            <a:endParaRPr lang="en-US" sz="1000" dirty="0"/>
          </a:p>
          <a:p>
            <a:pPr marL="152400" indent="-152400" algn="r" rtl="1">
              <a:lnSpc>
                <a:spcPct val="112000"/>
              </a:lnSpc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כשהצוות תקוע או בטוח מדי בהנחה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6102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7F9FC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29818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818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 · Evidence Map · Assumptions · החלטות צוות · Peer Feedback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9526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7" name="Shape 15"/>
          <p:cNvSpPr/>
          <p:nvPr/>
        </p:nvSpPr>
        <p:spPr>
          <a:xfrm>
            <a:off x="432054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457700" y="29260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54780" y="3163824"/>
            <a:ext cx="182880" cy="182880"/>
          </a:xfrm>
          <a:prstGeom prst="leftArrow">
            <a:avLst/>
          </a:prstGeom>
          <a:solidFill>
            <a:srgbClr val="51607A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80060" y="292608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BF3E3"/>
          </a:solidFill>
          <a:ln w="12700"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17220" y="30175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" y="3346704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 rtl="1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עד 5 אתגרים משמעותיים: הנחה, סיכון, Evidence חסר, מה יפריך, </a:t>
            </a:r>
            <a:r>
              <a:rPr lang="en-US" sz="9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</a:t>
            </a: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לבדוק</a:t>
            </a:r>
            <a:r>
              <a:rPr lang="he-IL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להכניס סוגיות ל </a:t>
            </a: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ויזואלית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737360" y="4087368"/>
            <a:ext cx="868680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8046720" y="4251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251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האזרחים יעדיפו Agent על נציג אנושי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46720" y="4782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47823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Evidence לגבי רמת האמון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5312664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E0A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ישנה את דעתנו?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20240" y="531266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עם משתמשים אמיתיים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011680" y="577900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7B3F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2011680" y="577900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1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5811</TotalTime>
  <Words>1388</Words>
  <Application>Microsoft Macintosh PowerPoint</Application>
  <PresentationFormat>Widescreen</PresentationFormat>
  <Paragraphs>297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Ronit Ritz bueno</cp:lastModifiedBy>
  <cp:revision>6</cp:revision>
  <dcterms:created xsi:type="dcterms:W3CDTF">2026-09-05T13:22:19Z</dcterms:created>
  <dcterms:modified xsi:type="dcterms:W3CDTF">2026-09-22T09:12:58Z</dcterms:modified>
</cp:coreProperties>
</file>